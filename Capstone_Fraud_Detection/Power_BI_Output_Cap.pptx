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xml" ContentType="application/vnd.openxmlformats-officedocument.presentationml.notesSlide+xml"/>
  <Override PartName="/ppt/slides/slide3.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notesSlides/notesSlide3.xml" ContentType="application/vnd.openxmlformats-officedocument.presentationml.notesSlide+xml"/>
  <Override PartName="/ppt/slides/slide5.xml" ContentType="application/vnd.openxmlformats-officedocument.presentationml.slide+xml"/>
  <Override PartName="/ppt/notesSlides/notesSlide4.xml" ContentType="application/vnd.openxmlformats-officedocument.presentationml.notesSlide+xml"/>
  <Override PartName="/ppt/slides/slide6.xml" ContentType="application/vnd.openxmlformats-officedocument.presentationml.slide+xml"/>
  <Override PartName="/ppt/notesSlides/notesSlide5.xml" ContentType="application/vnd.openxmlformats-officedocument.presentationml.notesSlide+xml"/>
  <Override PartName="/ppt/slides/slide7.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7.xml" ContentType="application/vnd.openxmlformats-officedocument.presentationml.notesSlide+xml"/>
  <Override PartName="/ppt/slides/slide9.xml" ContentType="application/vnd.openxmlformats-officedocument.presentationml.slide+xml"/>
  <Override PartName="/ppt/notesSlides/notesSlide8.xml" ContentType="application/vnd.openxmlformats-officedocument.presentationml.notesSlide+xml"/>
  <Override PartName="/ppt/slides/slidea.xml" ContentType="application/vnd.openxmlformats-officedocument.presentationml.slide+xml"/>
  <Override PartName="/ppt/notesSlides/notesSlide9.xml" ContentType="application/vnd.openxmlformats-officedocument.presentationml.notesSlide+xml"/>
  <Override PartName="/ppt/slides/slideb.xml" ContentType="application/vnd.openxmlformats-officedocument.presentationml.slide+xml"/>
  <Override PartName="/ppt/notesSlides/notesSlidea.xml" ContentType="application/vnd.openxmlformats-officedocument.presentationml.notesSlide+xml"/>
  <Override PartName="/ppt/slides/slidec.xml" ContentType="application/vnd.openxmlformats-officedocument.presentationml.slide+xml"/>
  <Override PartName="/ppt/notesSlides/notesSlideb.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elId0"/>
    <p:sldId id="258" r:id="RelId1"/>
    <p:sldId id="259" r:id="RelId2"/>
    <p:sldId id="260" r:id="RelId3"/>
    <p:sldId id="261" r:id="RelId4"/>
    <p:sldId id="262" r:id="RelId5"/>
    <p:sldId id="263" r:id="RelId6"/>
    <p:sldId id="264" r:id="RelId7"/>
    <p:sldId id="265" r:id="RelId8"/>
    <p:sldId id="266" r:id="RelId9"/>
    <p:sldId id="267" r:id="Rel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80" autoAdjust="0"/>
    <p:restoredTop sz="86410" autoAdjust="0"/>
  </p:normalViewPr>
  <p:slideViewPr>
    <p:cSldViewPr snapToGrid="0" snapToObjects="1">
      <p:cViewPr varScale="1">
        <p:scale>
          <a:sx n="72" d="100"/>
          <a:sy n="72" d="100"/>
        </p:scale>
        <p:origin x="84" y="75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presProps" Target="presProps.xml" Id="rId3" /><Relationship Type="http://schemas.openxmlformats.org/officeDocument/2006/relationships/slide" Target="slides/slide1.xml" Id="rId2" /><Relationship Type="http://schemas.openxmlformats.org/officeDocument/2006/relationships/slideMaster" Target="slideMasters/slideMaster1.xml" Id="rId1" /><Relationship Type="http://schemas.openxmlformats.org/officeDocument/2006/relationships/tableStyles" Target="tableStyles.xml" Id="rId6" /><Relationship Type="http://schemas.openxmlformats.org/officeDocument/2006/relationships/theme" Target="theme/theme1.xml" Id="rId5" /><Relationship Type="http://schemas.openxmlformats.org/officeDocument/2006/relationships/viewProps" Target="viewProps.xml" Id="rId4" /><Relationship Type="http://schemas.openxmlformats.org/officeDocument/2006/relationships/slide" Target="/ppt/slides/slide2.xml" Id="RelId0" /><Relationship Type="http://schemas.openxmlformats.org/officeDocument/2006/relationships/slide" Target="/ppt/slides/slide3.xml" Id="RelId1" /><Relationship Type="http://schemas.openxmlformats.org/officeDocument/2006/relationships/slide" Target="/ppt/slides/slide4.xml" Id="RelId2" /><Relationship Type="http://schemas.openxmlformats.org/officeDocument/2006/relationships/slide" Target="/ppt/slides/slide5.xml" Id="RelId3" /><Relationship Type="http://schemas.openxmlformats.org/officeDocument/2006/relationships/slide" Target="/ppt/slides/slide6.xml" Id="RelId4" /><Relationship Type="http://schemas.openxmlformats.org/officeDocument/2006/relationships/slide" Target="/ppt/slides/slide7.xml" Id="RelId5" /><Relationship Type="http://schemas.openxmlformats.org/officeDocument/2006/relationships/slide" Target="/ppt/slides/slide8.xml" Id="RelId6" /><Relationship Type="http://schemas.openxmlformats.org/officeDocument/2006/relationships/slide" Target="/ppt/slides/slide9.xml" Id="RelId7" /><Relationship Type="http://schemas.openxmlformats.org/officeDocument/2006/relationships/slide" Target="/ppt/slides/slidea.xml" Id="RelId8" /><Relationship Type="http://schemas.openxmlformats.org/officeDocument/2006/relationships/slide" Target="/ppt/slides/slideb.xml" Id="RelId9" /><Relationship Type="http://schemas.openxmlformats.org/officeDocument/2006/relationships/slide" Target="/ppt/slides/slidec.xml" Id="RelId10" /></Relationships>
</file>

<file path=ppt/notesSlides/notesSlide.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gauge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gauge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gauge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Amount Distribution Comparison</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2.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Suspicious Flags Analysis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Fraud Distribution by Transaction Type</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3.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Amount to Balance Ratio Insights</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4.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Zero Balance Flag Transactions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Fraud vs. Suspicious Pattern Overlap</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5.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Time Trend of Fraudulent Transactions</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6.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Top Destinations and Origins in Fraud</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7.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Average Amount by Transaction Type and Fraud Status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Fraud Rate by Transaction Amount Range (Dynamic Binned Analysis)</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8.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Transaction Type and Suspicious Flag Summary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Fraud Rate Trend Over Time (Percentage)</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9.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Rolling Average of Daily Fraud (Temporal Trend)</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a.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Fraud Count by Type and Suspicious Pattern (Pivoted 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Top Origin/Destination by Fraud Amount (Advanced Ranking / Top N)</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b.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Fraud Distribution by Transaction Type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Is Fraud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Suspicious Flags Analysis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Amount Distribution Comparison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Zero Balance Flag Transactions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Amount to Balance Ratio Insights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Time Trend of Fraudulent Transactions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Fraud vs. Suspicious Pattern Overlap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Average Amount by Transaction Type and Fraud Status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Fraud Rate Trend Over Time (Percentage)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gauge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gauge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Transactions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Top Origin/Destination by Fraud Amount (Advanced Ranking / Top 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11/25/2020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11/25/2020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11/25/2020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p14="http://schemas.microsoft.com/office/powerpoint/2010/main"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11/25/2020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image" Target="../media/image1.png" Id="rId2" /><Relationship Type="http://schemas.openxmlformats.org/officeDocument/2006/relationships/slideLayout" Target="../slideLayouts/slideLayout7.xml" Id="rId1" /><Relationship Type="http://schemas.openxmlformats.org/officeDocument/2006/relationships/image" Target="../media/image3.png" Id="rId5" /><Relationship Type="http://schemas.openxmlformats.org/officeDocument/2006/relationships/image" Target="../media/image2.png" Id="rId4" /><Relationship Type="http://schemas.openxmlformats.org/officeDocument/2006/relationships/hyperlink" Target="https://app.powerbi.com/groups/me/reports/6c5b68e9-ac15-4acb-ab53-234f54bf691e?pbi_source=PowerPoint" TargetMode="External" Id="coverSlideHpLink" /></Relationships>
</file>

<file path=ppt/slides/_rels/slide2.xml.rels>&#65279;<?xml version="1.0" encoding="utf-8"?><Relationships xmlns="http://schemas.openxmlformats.org/package/2006/relationships"><Relationship Type="http://schemas.openxmlformats.org/officeDocument/2006/relationships/notesSlide" Target="/ppt/notesSlides/notesSlide.xml" Id="R25bced01516a48c7" /><Relationship Type="http://schemas.openxmlformats.org/officeDocument/2006/relationships/slideLayout" Target="/ppt/slideLayouts/slideLayout8.xml" Id="Rc0d5aefb491b4440" /><Relationship Type="http://schemas.openxmlformats.org/officeDocument/2006/relationships/hyperlink" Target="https://app.powerbi.com/groups/me/reports/6c5b68e9-ac15-4acb-ab53-234f54bf691e/?pbi_source=PowerPoint" TargetMode="External" Id="RelId0" /><Relationship Type="http://schemas.openxmlformats.org/officeDocument/2006/relationships/image" Target="/ppt/media/image4.png" Id="imgId156714182" /></Relationships>
</file>

<file path=ppt/slides/_rels/slide3.xml.rels>&#65279;<?xml version="1.0" encoding="utf-8"?><Relationships xmlns="http://schemas.openxmlformats.org/package/2006/relationships"><Relationship Type="http://schemas.openxmlformats.org/officeDocument/2006/relationships/notesSlide" Target="/ppt/notesSlides/notesSlide2.xml" Id="Rb52ad0ada0ff4c29" /><Relationship Type="http://schemas.openxmlformats.org/officeDocument/2006/relationships/slideLayout" Target="/ppt/slideLayouts/slideLayout8.xml" Id="R328770cb1ac340b1" /><Relationship Type="http://schemas.openxmlformats.org/officeDocument/2006/relationships/hyperlink" Target="https://app.powerbi.com/groups/me/reports/6c5b68e9-ac15-4acb-ab53-234f54bf691e/?pbi_source=PowerPoint" TargetMode="External" Id="RelId1" /><Relationship Type="http://schemas.openxmlformats.org/officeDocument/2006/relationships/image" Target="/ppt/media/image5.png" Id="imgId156714183" /></Relationships>
</file>

<file path=ppt/slides/_rels/slide4.xml.rels>&#65279;<?xml version="1.0" encoding="utf-8"?><Relationships xmlns="http://schemas.openxmlformats.org/package/2006/relationships"><Relationship Type="http://schemas.openxmlformats.org/officeDocument/2006/relationships/notesSlide" Target="/ppt/notesSlides/notesSlide3.xml" Id="Re1176e3b0d4147f8" /><Relationship Type="http://schemas.openxmlformats.org/officeDocument/2006/relationships/slideLayout" Target="/ppt/slideLayouts/slideLayout8.xml" Id="R53d69895c7b04322" /><Relationship Type="http://schemas.openxmlformats.org/officeDocument/2006/relationships/hyperlink" Target="https://app.powerbi.com/groups/me/reports/6c5b68e9-ac15-4acb-ab53-234f54bf691e/?pbi_source=PowerPoint" TargetMode="External" Id="RelId2" /><Relationship Type="http://schemas.openxmlformats.org/officeDocument/2006/relationships/image" Target="/ppt/media/image6.png" Id="imgId156714184" /></Relationships>
</file>

<file path=ppt/slides/_rels/slide5.xml.rels>&#65279;<?xml version="1.0" encoding="utf-8"?><Relationships xmlns="http://schemas.openxmlformats.org/package/2006/relationships"><Relationship Type="http://schemas.openxmlformats.org/officeDocument/2006/relationships/notesSlide" Target="/ppt/notesSlides/notesSlide4.xml" Id="R251a0031a11e42bd" /><Relationship Type="http://schemas.openxmlformats.org/officeDocument/2006/relationships/slideLayout" Target="/ppt/slideLayouts/slideLayout8.xml" Id="Rde06df64a31a46c0" /><Relationship Type="http://schemas.openxmlformats.org/officeDocument/2006/relationships/hyperlink" Target="https://app.powerbi.com/groups/me/reports/6c5b68e9-ac15-4acb-ab53-234f54bf691e/?pbi_source=PowerPoint" TargetMode="External" Id="RelId3" /><Relationship Type="http://schemas.openxmlformats.org/officeDocument/2006/relationships/image" Target="/ppt/media/image7.png" Id="imgId156714185" /></Relationships>
</file>

<file path=ppt/slides/_rels/slide6.xml.rels>&#65279;<?xml version="1.0" encoding="utf-8"?><Relationships xmlns="http://schemas.openxmlformats.org/package/2006/relationships"><Relationship Type="http://schemas.openxmlformats.org/officeDocument/2006/relationships/notesSlide" Target="/ppt/notesSlides/notesSlide5.xml" Id="R7eaec6a36a304dd2" /><Relationship Type="http://schemas.openxmlformats.org/officeDocument/2006/relationships/slideLayout" Target="/ppt/slideLayouts/slideLayout8.xml" Id="R4ac5882c6ae94cf1" /><Relationship Type="http://schemas.openxmlformats.org/officeDocument/2006/relationships/hyperlink" Target="https://app.powerbi.com/groups/me/reports/6c5b68e9-ac15-4acb-ab53-234f54bf691e/?pbi_source=PowerPoint" TargetMode="External" Id="RelId4" /><Relationship Type="http://schemas.openxmlformats.org/officeDocument/2006/relationships/image" Target="/ppt/media/image8.png" Id="imgId156714186" /></Relationships>
</file>

<file path=ppt/slides/_rels/slide7.xml.rels>&#65279;<?xml version="1.0" encoding="utf-8"?><Relationships xmlns="http://schemas.openxmlformats.org/package/2006/relationships"><Relationship Type="http://schemas.openxmlformats.org/officeDocument/2006/relationships/notesSlide" Target="/ppt/notesSlides/notesSlide6.xml" Id="Rc2fab1a378154b04" /><Relationship Type="http://schemas.openxmlformats.org/officeDocument/2006/relationships/slideLayout" Target="/ppt/slideLayouts/slideLayout8.xml" Id="R145849f91b04415a" /><Relationship Type="http://schemas.openxmlformats.org/officeDocument/2006/relationships/hyperlink" Target="https://app.powerbi.com/groups/me/reports/6c5b68e9-ac15-4acb-ab53-234f54bf691e/?pbi_source=PowerPoint" TargetMode="External" Id="RelId5" /><Relationship Type="http://schemas.openxmlformats.org/officeDocument/2006/relationships/image" Target="/ppt/media/image9.png" Id="imgId156714187" /></Relationships>
</file>

<file path=ppt/slides/_rels/slide8.xml.rels>&#65279;<?xml version="1.0" encoding="utf-8"?><Relationships xmlns="http://schemas.openxmlformats.org/package/2006/relationships"><Relationship Type="http://schemas.openxmlformats.org/officeDocument/2006/relationships/notesSlide" Target="/ppt/notesSlides/notesSlide7.xml" Id="R7f3cb8fc68a34f59" /><Relationship Type="http://schemas.openxmlformats.org/officeDocument/2006/relationships/slideLayout" Target="/ppt/slideLayouts/slideLayout8.xml" Id="R00b5f131995844a6" /><Relationship Type="http://schemas.openxmlformats.org/officeDocument/2006/relationships/hyperlink" Target="https://app.powerbi.com/groups/me/reports/6c5b68e9-ac15-4acb-ab53-234f54bf691e/?pbi_source=PowerPoint" TargetMode="External" Id="RelId6" /><Relationship Type="http://schemas.openxmlformats.org/officeDocument/2006/relationships/image" Target="/ppt/media/imagea.png" Id="imgId156714188" /></Relationships>
</file>

<file path=ppt/slides/_rels/slide9.xml.rels>&#65279;<?xml version="1.0" encoding="utf-8"?><Relationships xmlns="http://schemas.openxmlformats.org/package/2006/relationships"><Relationship Type="http://schemas.openxmlformats.org/officeDocument/2006/relationships/notesSlide" Target="/ppt/notesSlides/notesSlide8.xml" Id="R7bbab145354e4f7d" /><Relationship Type="http://schemas.openxmlformats.org/officeDocument/2006/relationships/slideLayout" Target="/ppt/slideLayouts/slideLayout8.xml" Id="Rfd2ba00418294d50" /><Relationship Type="http://schemas.openxmlformats.org/officeDocument/2006/relationships/hyperlink" Target="https://app.powerbi.com/groups/me/reports/6c5b68e9-ac15-4acb-ab53-234f54bf691e/?pbi_source=PowerPoint" TargetMode="External" Id="RelId7" /><Relationship Type="http://schemas.openxmlformats.org/officeDocument/2006/relationships/image" Target="/ppt/media/imageb.png" Id="imgId156714189" /></Relationships>
</file>

<file path=ppt/slides/_rels/slidea.xml.rels>&#65279;<?xml version="1.0" encoding="utf-8"?><Relationships xmlns="http://schemas.openxmlformats.org/package/2006/relationships"><Relationship Type="http://schemas.openxmlformats.org/officeDocument/2006/relationships/notesSlide" Target="/ppt/notesSlides/notesSlide9.xml" Id="Rc139383178ad4cfb" /><Relationship Type="http://schemas.openxmlformats.org/officeDocument/2006/relationships/slideLayout" Target="/ppt/slideLayouts/slideLayout8.xml" Id="R72e5e0de60374526" /><Relationship Type="http://schemas.openxmlformats.org/officeDocument/2006/relationships/hyperlink" Target="https://app.powerbi.com/groups/me/reports/6c5b68e9-ac15-4acb-ab53-234f54bf691e/?pbi_source=PowerPoint" TargetMode="External" Id="RelId8" /><Relationship Type="http://schemas.openxmlformats.org/officeDocument/2006/relationships/image" Target="/ppt/media/imagec.png" Id="imgId156714190" /></Relationships>
</file>

<file path=ppt/slides/_rels/slideb.xml.rels>&#65279;<?xml version="1.0" encoding="utf-8"?><Relationships xmlns="http://schemas.openxmlformats.org/package/2006/relationships"><Relationship Type="http://schemas.openxmlformats.org/officeDocument/2006/relationships/notesSlide" Target="/ppt/notesSlides/notesSlidea.xml" Id="R2b6ef4654a404ca6" /><Relationship Type="http://schemas.openxmlformats.org/officeDocument/2006/relationships/slideLayout" Target="/ppt/slideLayouts/slideLayout8.xml" Id="R5d94b279d4e342d1" /><Relationship Type="http://schemas.openxmlformats.org/officeDocument/2006/relationships/hyperlink" Target="https://app.powerbi.com/groups/me/reports/6c5b68e9-ac15-4acb-ab53-234f54bf691e/?pbi_source=PowerPoint" TargetMode="External" Id="RelId9" /><Relationship Type="http://schemas.openxmlformats.org/officeDocument/2006/relationships/image" Target="/ppt/media/imaged.png" Id="imgId156714191" /></Relationships>
</file>

<file path=ppt/slides/_rels/slidec.xml.rels>&#65279;<?xml version="1.0" encoding="utf-8"?><Relationships xmlns="http://schemas.openxmlformats.org/package/2006/relationships"><Relationship Type="http://schemas.openxmlformats.org/officeDocument/2006/relationships/notesSlide" Target="/ppt/notesSlides/notesSlideb.xml" Id="R35da634b53c34e11" /><Relationship Type="http://schemas.openxmlformats.org/officeDocument/2006/relationships/slideLayout" Target="/ppt/slideLayouts/slideLayout8.xml" Id="Rc7942fa3b9b941c1" /><Relationship Type="http://schemas.openxmlformats.org/officeDocument/2006/relationships/hyperlink" Target="https://app.powerbi.com/groups/me/reports/6c5b68e9-ac15-4acb-ab53-234f54bf691e/?pbi_source=PowerPoint" TargetMode="External" Id="RelId10" /><Relationship Type="http://schemas.openxmlformats.org/officeDocument/2006/relationships/image" Target="/ppt/media/imagee.png" Id="imgId156714192" /></Relationships>
</file>

<file path=ppt/slides/slide1.xml><?xml version="1.0" encoding="utf-8"?>
<p:sld xmlns:adec="http://schemas.microsoft.com/office/drawing/2017/decorative"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1"/>
          <p:cNvSpPr txBox="1">
            <a:spLocks noGrp="1"/>
          </p:cNvSpPr>
          <p:nvPr>
            <p:ph type="title" idx="4294967295"/>
          </p:nvPr>
        </p:nvSpPr>
        <p:spPr>
          <a:xfrm>
            <a:off x="810584" y="2982149"/>
            <a:ext cx="6314017"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F3C910"/>
                </a:solidFill>
                <a:effectLst/>
                <a:uLnTx/>
                <a:uFillTx/>
                <a:latin typeface="Segoe UI Light" charset="0"/>
                <a:ea typeface="Segoe UI Light" charset="0"/>
                <a:cs typeface="Segoe UI Light" charset="0"/>
              </a:rPr>
              <a:t>Cap</a:t>
            </a:r>
            <a:endPar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endParaRPr>
          </a:p>
        </p:txBody>
      </p:sp>
      <p:sp>
        <p:nvSpPr>
          <p:cNvPr id="13" name="Text Placeholder 2"/>
          <p:cNvSpPr txBox="1">
            <a:spLocks/>
          </p:cNvSpPr>
          <p:nvPr/>
        </p:nvSpPr>
        <p:spPr>
          <a:xfrm>
            <a:off x="853448" y="3658761"/>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coverSlideHpLink"/>
              </a:rPr>
              <a:t>View in Power BI</a:t>
            </a:r>
            <a:endParaRPr lang="en-US" dirty="0">
              <a:solidFill>
                <a:schemeClr val="bg1"/>
              </a:solidFill>
            </a:endParaRPr>
          </a:p>
        </p:txBody>
      </p:sp>
      <p:sp>
        <p:nvSpPr>
          <p:cNvPr id="17" name="TextBox 16"/>
          <p:cNvSpPr txBox="1"/>
          <p:nvPr/>
        </p:nvSpPr>
        <p:spPr>
          <a:xfrm>
            <a:off x="832315" y="5823544"/>
            <a:ext cx="2177716" cy="369332"/>
          </a:xfrm>
          <a:prstGeom prst="rect">
            <a:avLst/>
          </a:prstGeom>
          <a:noFill/>
        </p:spPr>
        <p:txBody>
          <a:bodyPr wrap="square" rtlCol="0">
            <a:spAutoFit/>
          </a:bodyPr>
          <a:lstStyle/>
          <a:p>
            <a:r>
              <a:rPr lang="en-US" sz="900" b="1" i="0" dirty="0">
                <a:solidFill>
                  <a:schemeClr val="bg1"/>
                </a:solidFill>
                <a:latin typeface="Segoe UI Semibold" charset="0"/>
                <a:ea typeface="Segoe UI Semibold" charset="0"/>
                <a:cs typeface="Segoe UI Semibold" charset="0"/>
              </a:rPr>
              <a:t>Downloaded at:</a:t>
            </a:r>
          </a:p>
          <a:p>
            <a:r>
              <a:rPr lang="en-US" sz="900" b="0" i="0" dirty="0">
                <a:solidFill>
                  <a:schemeClr val="bg1"/>
                </a:solidFill>
                <a:latin typeface="Segoe UI" charset="0"/>
                <a:ea typeface="Segoe UI" charset="0"/>
                <a:cs typeface="Segoe UI" charset="0"/>
              </a:rPr>
              <a:t>12/6/2025 10:45:44 AM UTC</a:t>
            </a:r>
          </a:p>
        </p:txBody>
      </p:sp>
      <p:sp>
        <p:nvSpPr>
          <p:cNvPr id="10" name="TextBox 9"/>
          <p:cNvSpPr txBox="1"/>
          <p:nvPr/>
        </p:nvSpPr>
        <p:spPr>
          <a:xfrm>
            <a:off x="828512" y="5407903"/>
            <a:ext cx="2177716" cy="369332"/>
          </a:xfrm>
          <a:prstGeom prst="rect">
            <a:avLst/>
          </a:prstGeom>
          <a:noFill/>
        </p:spPr>
        <p:txBody>
          <a:bodyPr wrap="square" rtlCol="0">
            <a:spAutoFit/>
          </a:bodyPr>
          <a:lstStyle/>
          <a:p>
            <a:r>
              <a:rPr lang="en-US" sz="900" b="1" dirty="0">
                <a:solidFill>
                  <a:schemeClr val="bg1"/>
                </a:solidFill>
                <a:latin typeface="Segoe UI Semibold" charset="0"/>
                <a:ea typeface="Segoe UI Semibold" charset="0"/>
                <a:cs typeface="Segoe UI Semibold" charset="0"/>
              </a:rPr>
              <a:t>Last data refresh:</a:t>
            </a:r>
            <a:endParaRPr lang="en-US" sz="900" b="1" i="0" dirty="0">
              <a:solidFill>
                <a:schemeClr val="bg1"/>
              </a:solidFill>
              <a:latin typeface="Segoe UI Semibold" charset="0"/>
              <a:ea typeface="Segoe UI Semibold" charset="0"/>
              <a:cs typeface="Segoe UI Semibold" charset="0"/>
            </a:endParaRPr>
          </a:p>
          <a:p>
            <a:r>
              <a:rPr lang="en-US" sz="900" dirty="0">
                <a:solidFill>
                  <a:schemeClr val="bg1"/>
                </a:solidFill>
                <a:latin typeface="Segoe UI" charset="0"/>
                <a:ea typeface="Segoe UI" charset="0"/>
                <a:cs typeface="Segoe UI" charset="0"/>
              </a:rPr>
              <a:t>12/6/2025 10:08:29 AM UTC</a:t>
            </a:r>
            <a:endParaRPr lang="en-US" sz="900" b="0" i="0" dirty="0">
              <a:solidFill>
                <a:schemeClr val="bg1"/>
              </a:solidFill>
              <a:latin typeface="Segoe UI" charset="0"/>
              <a:ea typeface="Segoe UI" charset="0"/>
              <a:cs typeface="Segoe UI" charset="0"/>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9696" y="3694176"/>
            <a:ext cx="162027" cy="153025"/>
          </a:xfrm>
          <a:prstGeom prst="rect">
            <a:avLst/>
          </a:prstGeom>
        </p:spPr>
      </p:pic>
    </p:spTree>
    <p:extLst>
      <p:ext uri="{BB962C8B-B14F-4D97-AF65-F5344CB8AC3E}">
        <p14:creationId xmlns:p14="http://schemas.microsoft.com/office/powerpoint/2010/main" val="7630729"/>
      </p:ext>
    </p:extLst>
  </p:cSld>
  <p:clrMapOvr>
    <a:masterClrMapping/>
  </p:clrMapOvr>
</p:sld>
</file>

<file path=ppt/slides/slide2.xml><?xml version="1.0" encoding="utf-8"?>
<p:sld xmlns:p="http://schemas.openxmlformats.org/presentationml/2006/main">
  <p:cSld>
    <p:spTree>
      <p:nvGrpSpPr>
        <p:cNvPr id="1" name=""/>
        <p:cNvGrpSpPr/>
        <p:nvPr/>
      </p:nvGrpSpPr>
      <p:grpSpPr/>
      <p:pic>
        <p:nvPicPr>
          <p:cNvPr id="3" name="Picture" title="This slide contains the following visuals: gauge ,gauge ,gauge ,Amount Distribution Comparison. Please refer to the notes on this slide for details">
            <a:hlinkClick xmlns:r="http://schemas.openxmlformats.org/officeDocument/2006/relationships" xmlns:a="http://schemas.openxmlformats.org/drawingml/2006/main" r:id="RelId0"/>
          </p:cNvPr>
          <p:cNvPicPr>
            <a:picLocks xmlns:a="http://schemas.openxmlformats.org/drawingml/2006/main" noChangeAspect="1"/>
          </p:cNvPicPr>
          <p:nvPr/>
        </p:nvPicPr>
        <p:blipFill>
          <a:blip xmlns:r="http://schemas.openxmlformats.org/officeDocument/2006/relationships" xmlns:a="http://schemas.openxmlformats.org/drawingml/2006/main" r:embed="imgId156714182"/>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Page 1</a:t>
            </a:r>
          </a:p>
        </p:txBody>
      </p:sp>
    </p:spTree>
    <p:clrMapOvr>
      <a:masterClrMapping xmlns:a="http://schemas.openxmlformats.org/drawingml/2006/main"/>
    </p:clrMapOvr>
  </p:cSld>
</p:sld>
</file>

<file path=ppt/slides/slide3.xml><?xml version="1.0" encoding="utf-8"?>
<p:sld xmlns:p="http://schemas.openxmlformats.org/presentationml/2006/main">
  <p:cSld>
    <p:spTree>
      <p:nvGrpSpPr>
        <p:cNvPr id="1" name=""/>
        <p:cNvGrpSpPr/>
        <p:nvPr/>
      </p:nvGrpSpPr>
      <p:grpSpPr/>
      <p:pic>
        <p:nvPicPr>
          <p:cNvPr id="3" name="Picture" title="This slide contains the following visuals: Suspicious Flags Analysis ,Fraud Distribution by Transaction Type. Please refer to the notes on this slide for details">
            <a:hlinkClick xmlns:r="http://schemas.openxmlformats.org/officeDocument/2006/relationships" xmlns:a="http://schemas.openxmlformats.org/drawingml/2006/main" r:id="RelId1"/>
          </p:cNvPr>
          <p:cNvPicPr>
            <a:picLocks xmlns:a="http://schemas.openxmlformats.org/drawingml/2006/main" noChangeAspect="1"/>
          </p:cNvPicPr>
          <p:nvPr/>
        </p:nvPicPr>
        <p:blipFill>
          <a:blip xmlns:r="http://schemas.openxmlformats.org/officeDocument/2006/relationships" xmlns:a="http://schemas.openxmlformats.org/drawingml/2006/main" r:embed="imgId156714183"/>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Page 2</a:t>
            </a:r>
          </a:p>
        </p:txBody>
      </p:sp>
    </p:spTree>
    <p:clrMapOvr>
      <a:masterClrMapping xmlns:a="http://schemas.openxmlformats.org/drawingml/2006/main"/>
    </p:clrMapOvr>
  </p:cSld>
</p:sld>
</file>

<file path=ppt/slides/slide4.xml><?xml version="1.0" encoding="utf-8"?>
<p:sld xmlns:p="http://schemas.openxmlformats.org/presentationml/2006/main">
  <p:cSld>
    <p:spTree>
      <p:nvGrpSpPr>
        <p:cNvPr id="1" name=""/>
        <p:cNvGrpSpPr/>
        <p:nvPr/>
      </p:nvGrpSpPr>
      <p:grpSpPr/>
      <p:pic>
        <p:nvPicPr>
          <p:cNvPr id="3" name="Picture" title="This slide contains the following visuals: Amount to Balance Ratio Insights. Please refer to the notes on this slide for details">
            <a:hlinkClick xmlns:r="http://schemas.openxmlformats.org/officeDocument/2006/relationships" xmlns:a="http://schemas.openxmlformats.org/drawingml/2006/main" r:id="RelId2"/>
          </p:cNvPr>
          <p:cNvPicPr>
            <a:picLocks xmlns:a="http://schemas.openxmlformats.org/drawingml/2006/main" noChangeAspect="1"/>
          </p:cNvPicPr>
          <p:nvPr/>
        </p:nvPicPr>
        <p:blipFill>
          <a:blip xmlns:r="http://schemas.openxmlformats.org/officeDocument/2006/relationships" xmlns:a="http://schemas.openxmlformats.org/drawingml/2006/main" r:embed="imgId156714184"/>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Page 3</a:t>
            </a:r>
          </a:p>
        </p:txBody>
      </p:sp>
    </p:spTree>
    <p:clrMapOvr>
      <a:masterClrMapping xmlns:a="http://schemas.openxmlformats.org/drawingml/2006/main"/>
    </p:clrMapOvr>
  </p:cSld>
</p:sld>
</file>

<file path=ppt/slides/slide5.xml><?xml version="1.0" encoding="utf-8"?>
<p:sld xmlns:p="http://schemas.openxmlformats.org/presentationml/2006/main">
  <p:cSld>
    <p:spTree>
      <p:nvGrpSpPr>
        <p:cNvPr id="1" name=""/>
        <p:cNvGrpSpPr/>
        <p:nvPr/>
      </p:nvGrpSpPr>
      <p:grpSpPr/>
      <p:pic>
        <p:nvPicPr>
          <p:cNvPr id="3" name="Picture" title="This slide contains the following visuals: Zero Balance Flag Transactions ,Fraud vs. Suspicious Pattern Overlap. Please refer to the notes on this slide for details">
            <a:hlinkClick xmlns:r="http://schemas.openxmlformats.org/officeDocument/2006/relationships" xmlns:a="http://schemas.openxmlformats.org/drawingml/2006/main" r:id="RelId3"/>
          </p:cNvPr>
          <p:cNvPicPr>
            <a:picLocks xmlns:a="http://schemas.openxmlformats.org/drawingml/2006/main" noChangeAspect="1"/>
          </p:cNvPicPr>
          <p:nvPr/>
        </p:nvPicPr>
        <p:blipFill>
          <a:blip xmlns:r="http://schemas.openxmlformats.org/officeDocument/2006/relationships" xmlns:a="http://schemas.openxmlformats.org/drawingml/2006/main" r:embed="imgId156714185"/>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Page 4</a:t>
            </a:r>
          </a:p>
        </p:txBody>
      </p:sp>
    </p:spTree>
    <p:clrMapOvr>
      <a:masterClrMapping xmlns:a="http://schemas.openxmlformats.org/drawingml/2006/main"/>
    </p:clrMapOvr>
  </p:cSld>
</p:sld>
</file>

<file path=ppt/slides/slide6.xml><?xml version="1.0" encoding="utf-8"?>
<p:sld xmlns:p="http://schemas.openxmlformats.org/presentationml/2006/main">
  <p:cSld>
    <p:spTree>
      <p:nvGrpSpPr>
        <p:cNvPr id="1" name=""/>
        <p:cNvGrpSpPr/>
        <p:nvPr/>
      </p:nvGrpSpPr>
      <p:grpSpPr/>
      <p:pic>
        <p:nvPicPr>
          <p:cNvPr id="3" name="Picture" title="This slide contains the following visuals: Time Trend of Fraudulent Transactions. Please refer to the notes on this slide for details">
            <a:hlinkClick xmlns:r="http://schemas.openxmlformats.org/officeDocument/2006/relationships" xmlns:a="http://schemas.openxmlformats.org/drawingml/2006/main" r:id="RelId4"/>
          </p:cNvPr>
          <p:cNvPicPr>
            <a:picLocks xmlns:a="http://schemas.openxmlformats.org/drawingml/2006/main" noChangeAspect="1"/>
          </p:cNvPicPr>
          <p:nvPr/>
        </p:nvPicPr>
        <p:blipFill>
          <a:blip xmlns:r="http://schemas.openxmlformats.org/officeDocument/2006/relationships" xmlns:a="http://schemas.openxmlformats.org/drawingml/2006/main" r:embed="imgId156714186"/>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Page 5</a:t>
            </a:r>
          </a:p>
        </p:txBody>
      </p:sp>
    </p:spTree>
    <p:clrMapOvr>
      <a:masterClrMapping xmlns:a="http://schemas.openxmlformats.org/drawingml/2006/main"/>
    </p:clrMapOvr>
  </p:cSld>
</p:sld>
</file>

<file path=ppt/slides/slide7.xml><?xml version="1.0" encoding="utf-8"?>
<p:sld xmlns:p="http://schemas.openxmlformats.org/presentationml/2006/main">
  <p:cSld>
    <p:spTree>
      <p:nvGrpSpPr>
        <p:cNvPr id="1" name=""/>
        <p:cNvGrpSpPr/>
        <p:nvPr/>
      </p:nvGrpSpPr>
      <p:grpSpPr/>
      <p:pic>
        <p:nvPicPr>
          <p:cNvPr id="3" name="Picture" title="This slide contains the following visuals: Top Destinations and Origins in Fraud. Please refer to the notes on this slide for details">
            <a:hlinkClick xmlns:r="http://schemas.openxmlformats.org/officeDocument/2006/relationships" xmlns:a="http://schemas.openxmlformats.org/drawingml/2006/main" r:id="RelId5"/>
          </p:cNvPr>
          <p:cNvPicPr>
            <a:picLocks xmlns:a="http://schemas.openxmlformats.org/drawingml/2006/main" noChangeAspect="1"/>
          </p:cNvPicPr>
          <p:nvPr/>
        </p:nvPicPr>
        <p:blipFill>
          <a:blip xmlns:r="http://schemas.openxmlformats.org/officeDocument/2006/relationships" xmlns:a="http://schemas.openxmlformats.org/drawingml/2006/main" r:embed="imgId156714187"/>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Page 6</a:t>
            </a:r>
          </a:p>
        </p:txBody>
      </p:sp>
    </p:spTree>
    <p:clrMapOvr>
      <a:masterClrMapping xmlns:a="http://schemas.openxmlformats.org/drawingml/2006/main"/>
    </p:clrMapOvr>
  </p:cSld>
</p:sld>
</file>

<file path=ppt/slides/slide8.xml><?xml version="1.0" encoding="utf-8"?>
<p:sld xmlns:p="http://schemas.openxmlformats.org/presentationml/2006/main">
  <p:cSld>
    <p:spTree>
      <p:nvGrpSpPr>
        <p:cNvPr id="1" name=""/>
        <p:cNvGrpSpPr/>
        <p:nvPr/>
      </p:nvGrpSpPr>
      <p:grpSpPr/>
      <p:pic>
        <p:nvPicPr>
          <p:cNvPr id="3" name="Picture" title="This slide contains the following visuals: Average Amount by Transaction Type and Fraud Status ,Fraud Rate by Transaction Amount Range (Dynamic Binned Analysis). Please refer to the notes on this slide for details">
            <a:hlinkClick xmlns:r="http://schemas.openxmlformats.org/officeDocument/2006/relationships" xmlns:a="http://schemas.openxmlformats.org/drawingml/2006/main" r:id="RelId6"/>
          </p:cNvPr>
          <p:cNvPicPr>
            <a:picLocks xmlns:a="http://schemas.openxmlformats.org/drawingml/2006/main" noChangeAspect="1"/>
          </p:cNvPicPr>
          <p:nvPr/>
        </p:nvPicPr>
        <p:blipFill>
          <a:blip xmlns:r="http://schemas.openxmlformats.org/officeDocument/2006/relationships" xmlns:a="http://schemas.openxmlformats.org/drawingml/2006/main" r:embed="imgId156714188"/>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Page 7</a:t>
            </a:r>
          </a:p>
        </p:txBody>
      </p:sp>
    </p:spTree>
    <p:clrMapOvr>
      <a:masterClrMapping xmlns:a="http://schemas.openxmlformats.org/drawingml/2006/main"/>
    </p:clrMapOvr>
  </p:cSld>
</p:sld>
</file>

<file path=ppt/slides/slide9.xml><?xml version="1.0" encoding="utf-8"?>
<p:sld xmlns:p="http://schemas.openxmlformats.org/presentationml/2006/main">
  <p:cSld>
    <p:spTree>
      <p:nvGrpSpPr>
        <p:cNvPr id="1" name=""/>
        <p:cNvGrpSpPr/>
        <p:nvPr/>
      </p:nvGrpSpPr>
      <p:grpSpPr/>
      <p:pic>
        <p:nvPicPr>
          <p:cNvPr id="3" name="Picture" title="This slide contains the following visuals: Transaction Type and Suspicious Flag Summary ,Fraud Rate Trend Over Time (Percentage). Please refer to the notes on this slide for details">
            <a:hlinkClick xmlns:r="http://schemas.openxmlformats.org/officeDocument/2006/relationships" xmlns:a="http://schemas.openxmlformats.org/drawingml/2006/main" r:id="RelId7"/>
          </p:cNvPr>
          <p:cNvPicPr>
            <a:picLocks xmlns:a="http://schemas.openxmlformats.org/drawingml/2006/main" noChangeAspect="1"/>
          </p:cNvPicPr>
          <p:nvPr/>
        </p:nvPicPr>
        <p:blipFill>
          <a:blip xmlns:r="http://schemas.openxmlformats.org/officeDocument/2006/relationships" xmlns:a="http://schemas.openxmlformats.org/drawingml/2006/main" r:embed="imgId156714189"/>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Page 8</a:t>
            </a:r>
          </a:p>
        </p:txBody>
      </p:sp>
    </p:spTree>
    <p:clrMapOvr>
      <a:masterClrMapping xmlns:a="http://schemas.openxmlformats.org/drawingml/2006/main"/>
    </p:clrMapOvr>
  </p:cSld>
</p:sld>
</file>

<file path=ppt/slides/slidea.xml><?xml version="1.0" encoding="utf-8"?>
<p:sld xmlns:p="http://schemas.openxmlformats.org/presentationml/2006/main">
  <p:cSld>
    <p:spTree>
      <p:nvGrpSpPr>
        <p:cNvPr id="1" name=""/>
        <p:cNvGrpSpPr/>
        <p:nvPr/>
      </p:nvGrpSpPr>
      <p:grpSpPr/>
      <p:pic>
        <p:nvPicPr>
          <p:cNvPr id="3" name="Picture" title="This slide contains the following visuals: Rolling Average of Daily Fraud (Temporal Trend). Please refer to the notes on this slide for details">
            <a:hlinkClick xmlns:r="http://schemas.openxmlformats.org/officeDocument/2006/relationships" xmlns:a="http://schemas.openxmlformats.org/drawingml/2006/main" r:id="RelId8"/>
          </p:cNvPr>
          <p:cNvPicPr>
            <a:picLocks xmlns:a="http://schemas.openxmlformats.org/drawingml/2006/main" noChangeAspect="1"/>
          </p:cNvPicPr>
          <p:nvPr/>
        </p:nvPicPr>
        <p:blipFill>
          <a:blip xmlns:r="http://schemas.openxmlformats.org/officeDocument/2006/relationships" xmlns:a="http://schemas.openxmlformats.org/drawingml/2006/main" r:embed="imgId156714190"/>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Page 9</a:t>
            </a:r>
          </a:p>
        </p:txBody>
      </p:sp>
    </p:spTree>
    <p:clrMapOvr>
      <a:masterClrMapping xmlns:a="http://schemas.openxmlformats.org/drawingml/2006/main"/>
    </p:clrMapOvr>
  </p:cSld>
</p:sld>
</file>

<file path=ppt/slides/slideb.xml><?xml version="1.0" encoding="utf-8"?>
<p:sld xmlns:p="http://schemas.openxmlformats.org/presentationml/2006/main">
  <p:cSld>
    <p:spTree>
      <p:nvGrpSpPr>
        <p:cNvPr id="1" name=""/>
        <p:cNvGrpSpPr/>
        <p:nvPr/>
      </p:nvGrpSpPr>
      <p:grpSpPr/>
      <p:pic>
        <p:nvPicPr>
          <p:cNvPr id="3" name="Picture" title="This slide contains the following visuals: Fraud Count by Type and Suspicious Pattern (Pivoted Matrix) ,Top Origin/Destination by Fraud Amount (Advanced Ranking / Top N). Please refer to the notes on this slide for details">
            <a:hlinkClick xmlns:r="http://schemas.openxmlformats.org/officeDocument/2006/relationships" xmlns:a="http://schemas.openxmlformats.org/drawingml/2006/main" r:id="RelId9"/>
          </p:cNvPr>
          <p:cNvPicPr>
            <a:picLocks xmlns:a="http://schemas.openxmlformats.org/drawingml/2006/main" noChangeAspect="1"/>
          </p:cNvPicPr>
          <p:nvPr/>
        </p:nvPicPr>
        <p:blipFill>
          <a:blip xmlns:r="http://schemas.openxmlformats.org/officeDocument/2006/relationships" xmlns:a="http://schemas.openxmlformats.org/drawingml/2006/main" r:embed="imgId156714191"/>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Page 10</a:t>
            </a:r>
          </a:p>
        </p:txBody>
      </p:sp>
    </p:spTree>
    <p:clrMapOvr>
      <a:masterClrMapping xmlns:a="http://schemas.openxmlformats.org/drawingml/2006/main"/>
    </p:clrMapOvr>
  </p:cSld>
</p:sld>
</file>

<file path=ppt/slides/slidec.xml><?xml version="1.0" encoding="utf-8"?>
<p:sld xmlns:p="http://schemas.openxmlformats.org/presentationml/2006/main">
  <p:cSld>
    <p:spTree>
      <p:nvGrpSpPr>
        <p:cNvPr id="1" name=""/>
        <p:cNvGrpSpPr/>
        <p:nvPr/>
      </p:nvGrpSpPr>
      <p:grpSpPr/>
      <p:pic>
        <p:nvPicPr>
          <p:cNvPr id="3" name="Picture" title="This slide contains the following visuals: textbox ,Fraud Distribution by Transaction Type ,Is Fraud ,Suspicious Flags Analysis ,Amount Distribution Comparison ,Zero Balance Flag Transactions ,Amount to Balance Ratio Insights ,Time Trend of Fraudulent Transactions ,Fraud vs. Suspicious Pattern Overlap ,Average Amount by Transaction Type and Fraud Status ,Fraud Rate Trend Over Time (Percentage) ,gauge ,gauge ,Total Transactions ,Top Origin/Destination by Fraud Amount (Advanced Ranking / Top N) ,slicer ,slicer ,slicer. Please refer to the notes on this slide for details">
            <a:hlinkClick xmlns:r="http://schemas.openxmlformats.org/officeDocument/2006/relationships" xmlns:a="http://schemas.openxmlformats.org/drawingml/2006/main" r:id="RelId10"/>
          </p:cNvPr>
          <p:cNvPicPr>
            <a:picLocks xmlns:a="http://schemas.openxmlformats.org/drawingml/2006/main" noChangeAspect="1"/>
          </p:cNvPicPr>
          <p:nvPr/>
        </p:nvPicPr>
        <p:blipFill>
          <a:blip xmlns:r="http://schemas.openxmlformats.org/officeDocument/2006/relationships" xmlns:a="http://schemas.openxmlformats.org/drawingml/2006/main" r:embed="imgId156714192"/>
          <a:stretch xmlns:a="http://schemas.openxmlformats.org/drawingml/2006/main">
            <a:fillRect/>
          </a:stretch>
        </p:blipFill>
        <p:spPr>
          <a:xfrm xmlns:a="http://schemas.openxmlformats.org/drawingml/2006/main">
            <a:off x="5543550" y="0"/>
            <a:ext cx="1085850" cy="684847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Dashboard</a:t>
            </a:r>
          </a:p>
        </p:txBody>
      </p:sp>
    </p:spTree>
    <p:clrMapOvr>
      <a:masterClrMapping xmlns:a="http://schemas.openxmlformats.org/drawingml/2006/main"/>
    </p:clrMapOvr>
  </p:cSld>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TotalTime>
  <Words>27</Words>
  <Application>Microsoft Office PowerPoint</Application>
  <PresentationFormat>Widescreen</PresentationFormat>
  <Paragraphs>6</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Segoe UI</vt:lpstr>
      <vt:lpstr>Segoe UI Light</vt:lpstr>
      <vt:lpstr>Segoe UI Semibold</vt:lpstr>
      <vt:lpstr>Custom Design</vt:lpstr>
      <vt:lpstr>#Name of Power BI report#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Brian Butler</cp:lastModifiedBy>
  <cp:revision>4</cp:revision>
  <dcterms:created xsi:type="dcterms:W3CDTF">2016-09-04T11:54:55Z</dcterms:created>
  <dcterms:modified xsi:type="dcterms:W3CDTF">2020-11-25T15:29:01Z</dcterms:modified>
</cp:coreProperties>
</file>